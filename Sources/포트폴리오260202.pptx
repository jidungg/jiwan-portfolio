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24384000" cy="13716000"/>
  <p:notesSz cx="6858000" cy="9144000"/>
  <p:embeddedFontLst>
    <p:embeddedFont>
      <p:font typeface="SpoqaHanSans-Regular"/>
      <p:regular r:id="rId43"/>
    </p:embeddedFont>
    <p:embeddedFont>
      <p:font typeface="SpoqaHanSans-Bold"/>
      <p:bold r:id="rId44"/>
    </p:embeddedFont>
    <p:embeddedFont>
      <p:font typeface="Pretendard Regular"/>
      <p:regular r:id="rId45"/>
    </p:embeddedFont>
    <p:embeddedFont>
      <p:font typeface="Pretendard Bold"/>
      <p:bold r:id="rId46"/>
    </p:embeddedFont>
    <p:embeddedFont>
      <p:font typeface="Pretendard Medium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1.fntdata" Type="http://schemas.openxmlformats.org/officeDocument/2006/relationships/font"/><Relationship Id="rId44" Target="fonts/font2.fntdata" Type="http://schemas.openxmlformats.org/officeDocument/2006/relationships/font"/><Relationship Id="rId45" Target="fonts/font3.fntdata" Type="http://schemas.openxmlformats.org/officeDocument/2006/relationships/font"/><Relationship Id="rId46" Target="fonts/font4.fntdata" Type="http://schemas.openxmlformats.org/officeDocument/2006/relationships/font"/><Relationship Id="rId47" Target="fonts/font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" TargetMode="External" Type="http://schemas.openxmlformats.org/officeDocument/2006/relationships/hyperlink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17" Target="../media/image31.pn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16.png" Type="http://schemas.openxmlformats.org/officeDocument/2006/relationships/image"/><Relationship Id="rId20" Target="../media/image34.png" Type="http://schemas.openxmlformats.org/officeDocument/2006/relationships/image"/><Relationship Id="rId21" Target="../media/image35.png" Type="http://schemas.openxmlformats.org/officeDocument/2006/relationships/image"/><Relationship Id="rId22" Target="../media/image3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" TargetMode="External" Type="http://schemas.openxmlformats.org/officeDocument/2006/relationships/hyperlink"/><Relationship Id="rId11" Target="../media/image58.png" Type="http://schemas.openxmlformats.org/officeDocument/2006/relationships/image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1.png" Type="http://schemas.openxmlformats.org/officeDocument/2006/relationships/image"/><Relationship Id="rId7" Target="../media/image14.png" Type="http://schemas.openxmlformats.org/officeDocument/2006/relationships/image"/><Relationship Id="rId8" Target="" TargetMode="External" Type="http://schemas.openxmlformats.org/officeDocument/2006/relationships/hyperlink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" TargetMode="External" Type="http://schemas.openxmlformats.org/officeDocument/2006/relationships/hyperlink"/><Relationship Id="rId2" Target="../media/image79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1.png" Type="http://schemas.openxmlformats.org/officeDocument/2006/relationships/image"/><Relationship Id="rId7" Target="../media/image83.png" Type="http://schemas.openxmlformats.org/officeDocument/2006/relationships/image"/><Relationship Id="rId8" Target="" TargetMode="External" Type="http://schemas.openxmlformats.org/officeDocument/2006/relationships/hyperlink"/><Relationship Id="rId9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" TargetMode="External" Type="http://schemas.openxmlformats.org/officeDocument/2006/relationships/hyperlink"/><Relationship Id="rId11" Target="" TargetMode="External" Type="http://schemas.openxmlformats.org/officeDocument/2006/relationships/hyperlink"/><Relationship Id="rId12" Target="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14.png" Type="http://schemas.openxmlformats.org/officeDocument/2006/relationships/image"/><Relationship Id="rId7" Target="" TargetMode="External" Type="http://schemas.openxmlformats.org/officeDocument/2006/relationships/hyperlink"/><Relationship Id="rId8" Target="../media/image15.png" Type="http://schemas.openxmlformats.org/officeDocument/2006/relationships/image"/><Relationship Id="rId9" Target="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7.png" Type="http://schemas.openxmlformats.org/officeDocument/2006/relationships/image"/><Relationship Id="rId4" Target="../media/image92.png" Type="http://schemas.openxmlformats.org/officeDocument/2006/relationships/image"/><Relationship Id="rId5" Target="../media/image9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png" Type="http://schemas.openxmlformats.org/officeDocument/2006/relationships/image"/><Relationship Id="rId4" Target="../media/image1.png" Type="http://schemas.openxmlformats.org/officeDocument/2006/relationships/image"/><Relationship Id="rId5" Target="../media/image11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4.png" Type="http://schemas.openxmlformats.org/officeDocument/2006/relationships/image"/><Relationship Id="rId7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46200" y="3035300"/>
            <a:ext cx="18834100" cy="2413000"/>
          </a:xfrm>
          <a:prstGeom prst="rect">
            <a:avLst/>
          </a:prstGeom>
        </p:spPr>
        <p:txBody>
          <a:bodyPr anchor="t" rtlCol="false" lIns="0" tIns="152400" rIns="0" bIns="0"/>
          <a:lstStyle/>
          <a:p>
            <a:pPr algn="l" lvl="0">
              <a:lnSpc>
                <a:spcPct val="99600"/>
              </a:lnSpc>
            </a:pPr>
            <a:r>
              <a:rPr lang="en-US" sz="12000" b="false" i="false" u="none" strike="noStrike" spc="-6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포트폴리오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0500" y="10033000"/>
            <a:ext cx="18440400" cy="2552700"/>
          </a:xfrm>
          <a:prstGeom prst="rect">
            <a:avLst/>
          </a:prstGeom>
        </p:spPr>
        <p:txBody>
          <a:bodyPr anchor="t" rtlCol="false" lIns="0" tIns="57569" rIns="0" bIns="0"/>
          <a:lstStyle/>
          <a:p>
            <a:pPr algn="l" lvl="0">
              <a:lnSpc>
                <a:spcPct val="99600"/>
              </a:lnSpc>
            </a:pPr>
            <a:r>
              <a:rPr lang="en-US" sz="4533" b="false" i="false" u="none" strike="noStrike" spc="-2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김지완
010-9252-5766</a:t>
            </a:r>
          </a:p>
          <a:p>
            <a:pPr algn="l" lvl="0">
              <a:lnSpc>
                <a:spcPct val="99600"/>
              </a:lnSpc>
            </a:pPr>
            <a:r>
              <a:rPr lang="en-US" sz="4533" b="false" i="false" u="none" strike="noStrike" spc="-2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KWJ5766@gmail.com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0500" y="2400300"/>
            <a:ext cx="18453100" cy="1016000"/>
          </a:xfrm>
          <a:prstGeom prst="rect">
            <a:avLst/>
          </a:prstGeom>
        </p:spPr>
        <p:txBody>
          <a:bodyPr anchor="t" rtlCol="false" lIns="0" tIns="62649" rIns="0" bIns="0"/>
          <a:lstStyle/>
          <a:p>
            <a:pPr algn="l" lvl="0">
              <a:lnSpc>
                <a:spcPct val="99600"/>
              </a:lnSpc>
            </a:pPr>
            <a:r>
              <a:rPr lang="en-US" sz="4933" b="false" i="false" u="none" strike="noStrike" spc="-200">
                <a:solidFill>
                  <a:srgbClr val="595959"/>
                </a:solidFill>
                <a:latin typeface="SpoqaHanSans-Regular"/>
                <a:ea typeface="SpoqaHanSans-Regular"/>
                <a:cs typeface="SpoqaHanSans-Regular"/>
              </a:rPr>
              <a:t>게임 프로그래밍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0">
            <a:off x="1574800" y="10210800"/>
            <a:ext cx="5029200" cy="1676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828800" y="10579100"/>
            <a:ext cx="45212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6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저수준 구현 경험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3300" y="711200"/>
            <a:ext cx="214630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핵심 역량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0">
            <a:off x="1574800" y="3581400"/>
            <a:ext cx="5029200" cy="167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7924800" y="2857500"/>
            <a:ext cx="2413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7924800" y="9563100"/>
            <a:ext cx="241300" cy="295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0">
            <a:off x="1574800" y="6896100"/>
            <a:ext cx="5029200" cy="167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7924800" y="6248400"/>
            <a:ext cx="241300" cy="2959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 rot="0">
            <a:off x="9486900" y="9664700"/>
            <a:ext cx="13309600" cy="2768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alphaModFix amt="7000"/>
          </a:blip>
          <a:stretch>
            <a:fillRect/>
          </a:stretch>
        </p:blipFill>
        <p:spPr>
          <a:xfrm rot="0">
            <a:off x="9486900" y="6350000"/>
            <a:ext cx="13309600" cy="2768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alphaModFix amt="7000"/>
          </a:blip>
          <a:stretch>
            <a:fillRect/>
          </a:stretch>
        </p:blipFill>
        <p:spPr>
          <a:xfrm rot="0">
            <a:off x="9486900" y="2933700"/>
            <a:ext cx="13296900" cy="2781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476500" y="3911600"/>
            <a:ext cx="32258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6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최적화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500" y="7251700"/>
            <a:ext cx="31750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6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시스템 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93300" y="9969500"/>
            <a:ext cx="127000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DirectX11 커스텀 엔진을 직접 구현한 경험이 있습니다. 
 렌더링, 충돌 처리, 스켈레탈 애니메이션 등 상용 엔진의 내부 동작 및 개념을 
저수준에서 이해하고 있습니다.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93300" y="6629400"/>
            <a:ext cx="127000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시스템을 설계할 때 게임 로직과의 결합도를 낮추는 구조를 우선적으로 고려합니다. 
또한 사용자 코드를 먼저 작성하고 시스템 사용 가이드 문서를 작성하는 등 
사용자 편의성을 중요하게 생각합니다.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3300" y="3327400"/>
            <a:ext cx="12700000" cy="190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성능 프로파일링을 통해 병목 지점을 파악합니다.</a:t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 공유, Instancing, Precomputing, 알고리즘 등 다양한 측면에서 
성능 최적화 가능성을 고려합니다.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65200" y="711200"/>
            <a:ext cx="122301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프로젝트 소개 - 메이플스토리2 모작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542000" y="8039100"/>
            <a:ext cx="4775200" cy="471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84400" y="2997200"/>
            <a:ext cx="8432800" cy="474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29800" y="8026400"/>
            <a:ext cx="8293100" cy="474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42500" y="2997200"/>
            <a:ext cx="4711700" cy="4762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90600" y="4102100"/>
            <a:ext cx="8978900" cy="194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2024.09 ~ 2025.01 (120일)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DirectX11, HLSL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시연 영상 :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설명 문서: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8064500"/>
            <a:ext cx="3987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8775700"/>
            <a:ext cx="5905500" cy="194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 시스템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퀘스트 / 전투 / 육성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맵 / 하우징 시스템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Dx11 커스텀 엔진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3035300"/>
            <a:ext cx="2857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관련 정보</a:t>
            </a:r>
          </a:p>
        </p:txBody>
      </p:sp>
      <p:pic>
        <p:nvPicPr>
          <p:cNvPr name="Picture 12" id="12">
            <a:hlinkClick r:id="rId8" tooltip=""/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71800" y="5168900"/>
            <a:ext cx="495300" cy="355600"/>
          </a:xfrm>
          <a:prstGeom prst="rect">
            <a:avLst/>
          </a:prstGeom>
        </p:spPr>
      </p:pic>
      <p:pic>
        <p:nvPicPr>
          <p:cNvPr name="Picture 13" id="13">
            <a:hlinkClick r:id="rId10" tooltip=""/>
          </p:cNvPr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41700" y="56261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57600" y="6997700"/>
            <a:ext cx="7569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tru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UI 컴포넌트 설계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70300" y="7518400"/>
            <a:ext cx="78740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로직과 분리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재사용 가능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0300" y="3644900"/>
            <a:ext cx="4965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tru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기반 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0300" y="4038600"/>
            <a:ext cx="5257800" cy="201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 Manager -&gt; 입력 전달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RectTransform -&gt; 배치 간편화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계층적 UI 오브젝트 구조 -&gt; 확장 용이성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861800" y="6921500"/>
            <a:ext cx="3009900" cy="901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306300" y="7061200"/>
            <a:ext cx="23368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UIInventory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77700" y="4102100"/>
            <a:ext cx="2628900" cy="2730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4102100"/>
            <a:ext cx="1435100" cy="143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52600" y="5600700"/>
            <a:ext cx="1955800" cy="901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146300" y="5740400"/>
            <a:ext cx="1295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UISlot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57700" y="4089400"/>
            <a:ext cx="1435100" cy="146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91000" y="5600700"/>
            <a:ext cx="1955800" cy="901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546600" y="5740400"/>
            <a:ext cx="1371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UIIcon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16100" y="7302500"/>
            <a:ext cx="3746500" cy="2273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5100" y="9626600"/>
            <a:ext cx="4508500" cy="901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79600" y="9766300"/>
            <a:ext cx="382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UICommonWindow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12000" y="4089400"/>
            <a:ext cx="1397000" cy="1473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42100" y="5600700"/>
            <a:ext cx="2324100" cy="90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6997700" y="5740400"/>
            <a:ext cx="1854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UIButton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53300" y="8686800"/>
            <a:ext cx="901700" cy="901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353300" y="7823200"/>
            <a:ext cx="901700" cy="901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353300" y="6959600"/>
            <a:ext cx="901700" cy="901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324600" y="9626600"/>
            <a:ext cx="2971800" cy="901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858000" y="9766300"/>
            <a:ext cx="2019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UIScroller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690100" y="6832600"/>
            <a:ext cx="1333500" cy="1308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9906000" y="81026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조합</a:t>
            </a:r>
            <a:r>
              <a:rPr lang="en-US" sz="4000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54500" y="3060700"/>
            <a:ext cx="24892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false" i="false" u="none" strike="noStrike" spc="-100">
                <a:solidFill>
                  <a:srgbClr val="5D6DBE"/>
                </a:solidFill>
                <a:highlight>
                  <a:srgbClr val="EEEEEE"/>
                </a:highlight>
                <a:latin typeface="Pretendard Medium"/>
                <a:ea typeface="Pretendard Medium"/>
                <a:cs typeface="Pretendard Medium"/>
              </a:rPr>
              <a:t>UI 컴포넌트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324600" y="11125200"/>
            <a:ext cx="1778000" cy="901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6642100" y="11264900"/>
            <a:ext cx="1270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ETC···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69900" y="6121400"/>
            <a:ext cx="304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836400" y="8039100"/>
            <a:ext cx="3098800" cy="2413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861800" y="10528300"/>
            <a:ext cx="3009900" cy="901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2230100" y="10668000"/>
            <a:ext cx="2400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UIPlayerInfo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0" y="3060700"/>
            <a:ext cx="25908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false" i="false" u="none" strike="noStrike" spc="-100">
                <a:solidFill>
                  <a:srgbClr val="5D6DBE"/>
                </a:solidFill>
                <a:highlight>
                  <a:srgbClr val="EEEEEE"/>
                </a:highlight>
                <a:latin typeface="Pretendard Medium"/>
                <a:ea typeface="Pretendard Medium"/>
                <a:cs typeface="Pretendard Medium"/>
              </a:rPr>
              <a:t>게임 특화 UI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522200" y="11557000"/>
            <a:ext cx="1778000" cy="9017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2839700" y="11696700"/>
            <a:ext cx="1270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ETC···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184400" y="11125200"/>
            <a:ext cx="1955800" cy="9017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2501900" y="11264900"/>
            <a:ext cx="1384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UIFont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4419600" y="11125200"/>
            <a:ext cx="1638300" cy="9017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4724400" y="11264900"/>
            <a:ext cx="11938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UIBar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357600" y="9918700"/>
            <a:ext cx="7569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tru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게임 특화 UI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357600" y="10439400"/>
            <a:ext cx="3962400" cy="1435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공통 UI 컴포넌트 조합 / 배치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데이터 연동 및 상태 반영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68300" y="0"/>
            <a:ext cx="35179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UI 시스템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98900" y="4826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주요 구현 내용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1200" y="1866900"/>
            <a:ext cx="115062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MVC 패턴을 활용해 게임 상태와 인게임 표현 계층을 분리해 시스템을 구현했습니다.
UI 제작 시 반복 사용되는 요소를 재사용 가능한 UI 컴포넌트로 설계했습니다.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63600" y="10795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18800" y="10210800"/>
            <a:ext cx="4940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인벤토리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44200" y="10477500"/>
            <a:ext cx="49276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보유 아이템 확인
아이템 분류별 탭 전환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우클릭으로 아이템 사용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18800" y="3860800"/>
            <a:ext cx="4813300" cy="5956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71600" y="10083800"/>
            <a:ext cx="75692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장비창 / 스탯창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300" y="10807700"/>
            <a:ext cx="78740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장착 장비 확인 및 장착 해제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캐릭터의 전투력 확인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스탯 포인트 분배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4300" y="3860800"/>
            <a:ext cx="7772400" cy="595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170400" y="10160000"/>
            <a:ext cx="5740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HUD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70400" y="10477500"/>
            <a:ext cx="57150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 체력 바
퀵슬롯
퀘스트 가이드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170400" y="4775200"/>
            <a:ext cx="5295900" cy="1447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57700" y="3848100"/>
            <a:ext cx="5308600" cy="774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70400" y="6375400"/>
            <a:ext cx="5295900" cy="3441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68300" y="0"/>
            <a:ext cx="35179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UI 시스템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98900" y="4826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주요 구현 내용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100" y="10071100"/>
            <a:ext cx="7569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NPC / 퀘스트 시스템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82100" y="10071100"/>
            <a:ext cx="5041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전투 로직 / AI 시스템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13100" y="10058400"/>
            <a:ext cx="5753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아이템 / 장비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10820400"/>
            <a:ext cx="6807200" cy="201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Json 기반 퀘스트 데이터 관리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선택지를 통한 NPC 대화 분기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퀘스트 상태 기반 UI 동기화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82100" y="10807700"/>
            <a:ext cx="57531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 A* 길찾기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 제어를 위한 State Machine 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/ 몬스터 통합 캐릭터 시스템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13100" y="11074400"/>
            <a:ext cx="67183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가중치 기반 아이템 드랍 테이블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본 Attached 오브젝트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스켈레탈 메시 기반 방어구 스키닝 처리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6200" y="4025900"/>
            <a:ext cx="6807200" cy="600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938500" y="4064000"/>
            <a:ext cx="2032000" cy="596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224500" y="4076700"/>
            <a:ext cx="2044700" cy="595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510500" y="4064000"/>
            <a:ext cx="2019300" cy="5969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55600" y="0"/>
            <a:ext cx="41783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게임 컨텐츠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48200" y="4064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주요 구현 내용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300" y="2374900"/>
            <a:ext cx="89662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퀘스트 / 전투 / 육성 등 RPG의 핵심이 되는 컨텐츠를 개발했습니다.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82100" y="4064000"/>
            <a:ext cx="5816600" cy="596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89100" y="7061200"/>
            <a:ext cx="5943600" cy="3327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76400" y="3810000"/>
            <a:ext cx="5956300" cy="3403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29700" y="8458200"/>
            <a:ext cx="6108700" cy="1600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35100" y="10464800"/>
            <a:ext cx="75692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맵 제작 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07500" y="10464800"/>
            <a:ext cx="50419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건설 메뉴 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4100" y="10566400"/>
            <a:ext cx="5753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Json 기반 직렬화 / 역직렬화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5100" y="11201400"/>
            <a:ext cx="6807200" cy="1435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원하는 오브젝트를 선택해 원하는 위치에 배치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런타임 맵 데이터 수정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07500" y="11468100"/>
            <a:ext cx="5753100" cy="90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런타임 동적 UI 아이콘 생성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94100" y="11176000"/>
            <a:ext cx="69723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셀 좌표 단일 정수화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연속 오브젝트 압축 저장 (RLE)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가독성 &amp; 디버깅 용이성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50400" y="3949700"/>
            <a:ext cx="5054600" cy="326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645900" y="7429500"/>
            <a:ext cx="825500" cy="812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95700" y="3949700"/>
            <a:ext cx="5727700" cy="6108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68300" y="0"/>
            <a:ext cx="4914900" cy="16383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하우징 시스템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95900" y="4064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주요 구현 내용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300" y="2374900"/>
            <a:ext cx="10274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유저의 입맛대로 자신의 집을 꾸밀 수 있는 UGC 제작 컨텐츠를 개발했습니다.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8300" y="0"/>
            <a:ext cx="63373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DX11 커스텀 엔진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94500" y="4064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주요 구현 내용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1295400" y="4013200"/>
            <a:ext cx="9232900" cy="901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92200" y="4203700"/>
            <a:ext cx="1282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3600" y="4152900"/>
            <a:ext cx="8166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렌더링 파이프라인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4699000"/>
            <a:ext cx="10871200" cy="209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Deferred Shader</a:t>
            </a:r>
          </a:p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렌더 패스 분리 구조</a:t>
            </a:r>
          </a:p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다중 렌더 타겟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12738100" y="4013200"/>
            <a:ext cx="9232900" cy="901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534900" y="4191000"/>
            <a:ext cx="1282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9000" y="4152900"/>
            <a:ext cx="105918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스켈레탈 애니메이션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71500" y="4787900"/>
            <a:ext cx="10858500" cy="139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본 계층화</a:t>
            </a:r>
          </a:p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키프레임 보간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1295400" y="8585200"/>
            <a:ext cx="9232900" cy="901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92200" y="8763000"/>
            <a:ext cx="1282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33600" y="8724900"/>
            <a:ext cx="8166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게임 프레임워크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8800" y="9652000"/>
            <a:ext cx="108712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Level  / Object  / Component
- 충돌처리
- Object Manager &amp; UI Manager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12738100" y="8585200"/>
            <a:ext cx="9232900" cy="901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522200" y="8763000"/>
            <a:ext cx="1282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6300" y="8724900"/>
            <a:ext cx="10604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엔진 공통 유틸리티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71500" y="9652000"/>
            <a:ext cx="108712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Object Pool
- Camera
- Event Manager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300" y="2374900"/>
            <a:ext cx="88011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제작 및 렌더링 기능 지원용 엔진 라이브러리를 개발했습니다.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55200" y="2997200"/>
            <a:ext cx="4711700" cy="4749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542000" y="8039100"/>
            <a:ext cx="4826000" cy="471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9800" y="8026400"/>
            <a:ext cx="8293100" cy="467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84400" y="2997200"/>
            <a:ext cx="8483600" cy="474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65200" y="711200"/>
            <a:ext cx="126619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프로젝트 소개 - 견습기사 모험기 모작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657600"/>
            <a:ext cx="8978900" cy="289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2025.01 ~ 2025.03 (78일)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인원 : 7명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담당 파트 : 애니메이션 구동 &amp; 플레이어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DirectX11, HLSL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시연 영상 :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설명 문서: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8204200"/>
            <a:ext cx="3987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3300" y="8915400"/>
            <a:ext cx="5905500" cy="146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 &amp; 플레이어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상호작용 시스템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시스템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3035300"/>
            <a:ext cx="2857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관련 정보</a:t>
            </a:r>
          </a:p>
        </p:txBody>
      </p:sp>
      <p:pic>
        <p:nvPicPr>
          <p:cNvPr name="Picture 12" id="12">
            <a:hlinkClick r:id="rId8" tooltip=""/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71800" y="5626100"/>
            <a:ext cx="495300" cy="355600"/>
          </a:xfrm>
          <a:prstGeom prst="rect">
            <a:avLst/>
          </a:prstGeom>
        </p:spPr>
      </p:pic>
      <p:pic>
        <p:nvPicPr>
          <p:cNvPr name="Picture 13" id="13">
            <a:hlinkClick r:id="rId10" tooltip=""/>
          </p:cNvPr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90900" y="6121400"/>
            <a:ext cx="4191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884400" y="3009900"/>
            <a:ext cx="848360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4100" y="10591800"/>
            <a:ext cx="6604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PhysX 기반 캐릭터 이동 시스템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39200" y="10591800"/>
            <a:ext cx="5524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플레이어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4100" y="10566400"/>
            <a:ext cx="5753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플레이 모드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0" y="11468100"/>
            <a:ext cx="68072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Step Assist 구현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Dynamic Rigidbody 충돌 처리 / 물리 시뮬레이션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26500" y="11480800"/>
            <a:ext cx="57531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State 패턴 활용 상태 제어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검, 제트팩 등 부착형 아이템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벽타기, 포탈 등 정교한 액션 구현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4100" y="11442700"/>
            <a:ext cx="69850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조작 방식 변경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모델 변경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부착 아이템 변경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578100" y="0"/>
            <a:ext cx="10795000" cy="16383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캐릭터 &amp; 플레이어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92900" y="406400"/>
            <a:ext cx="90424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견습기사 모험기 모작 - 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8700" y="1752600"/>
            <a:ext cx="9321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PhysX를 활용해 캐릭터의 자연스러운 이동과 충돌을 구현했습니다.
게임의 다양한 컨텐츠에  맞춰 플레이어 행동을 구현했습니다.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357600" y="3416300"/>
            <a:ext cx="6108700" cy="311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357600" y="7226300"/>
            <a:ext cx="3009900" cy="3086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278600" y="7226300"/>
            <a:ext cx="3187700" cy="308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7150100"/>
            <a:ext cx="3454400" cy="309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43400" y="7188200"/>
            <a:ext cx="3416300" cy="308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7900" y="7188200"/>
            <a:ext cx="3441700" cy="308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7900" y="3416300"/>
            <a:ext cx="5194300" cy="3454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39200" y="7150100"/>
            <a:ext cx="3098800" cy="309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26500" y="3441700"/>
            <a:ext cx="3378200" cy="2501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18900" y="3429000"/>
            <a:ext cx="3784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100" y="10591800"/>
            <a:ext cx="6604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공통 상호작용 인터페이스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07500" y="10591800"/>
            <a:ext cx="6477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플레이어에서 흐름 일괄 제어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4100" y="10566400"/>
            <a:ext cx="5753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가이드 문서 배포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11468100"/>
            <a:ext cx="68072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상속을 통한 확장성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오버라이드로 실제 동작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94100" y="11430000"/>
            <a:ext cx="69850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상호작용 시스템 사용 가이드 문서 제작 및 배포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600" y="0"/>
            <a:ext cx="56642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상호작용 시스템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84900" y="406400"/>
            <a:ext cx="90424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견습기사 모험기 모작 - 주요 구현 내용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6800" y="1752600"/>
            <a:ext cx="112268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내 다양한 상호작용 오브젝트를 구현하기 위한 상호작용 시스템을 개발했습니다.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07500" y="11468100"/>
            <a:ext cx="68072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HOLDING, CHARGE 등 상호작용 타입
직관적인 상호작용 액션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07500" y="6654800"/>
            <a:ext cx="5384800" cy="3568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07500" y="2540000"/>
            <a:ext cx="5384800" cy="3975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94100" y="2540000"/>
            <a:ext cx="6223000" cy="768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1700" y="3683000"/>
            <a:ext cx="6794500" cy="538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100" y="10591800"/>
            <a:ext cx="6604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2D / 3D 모델 애니메이션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07500" y="10591800"/>
            <a:ext cx="6477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애니메이션 이벤트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4100" y="10566400"/>
            <a:ext cx="5753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애니메이션 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11480800"/>
            <a:ext cx="68072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3D 스켈레탈 애니메이션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2D 스프라이트 애니메이션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2D/3D 공통 부모 인터페이스로 관리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07500" y="11468100"/>
            <a:ext cx="57531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 타이밍에 게임 로직 호출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이벤트 기반 애니메이션 / 게임 로직 분리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4100" y="11442700"/>
            <a:ext cx="69850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속도, 반전 등 데이터 편집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이벤트 데이터 편집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이벤트 데이터 / 모델 데이터 분리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300" y="0"/>
            <a:ext cx="64008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애니메이션 시스템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92900" y="406400"/>
            <a:ext cx="90424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견습기사 모험기 모작 - 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1700" y="1663700"/>
            <a:ext cx="10033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2D/3D 애니메이션 재생 시스템을 구현하고, 인터페이스를 통합했습니다.
애니메이션 툴을 개발해 팀원의 생산성을 높였습니다.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08200" y="6248400"/>
            <a:ext cx="3479800" cy="350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2200" y="3708400"/>
            <a:ext cx="5511800" cy="168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21200" y="2133600"/>
            <a:ext cx="5029200" cy="394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94100" y="6413500"/>
            <a:ext cx="6807200" cy="386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74200" y="6934200"/>
            <a:ext cx="5118100" cy="317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71000" y="3035300"/>
            <a:ext cx="5511800" cy="340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542000" y="8039100"/>
            <a:ext cx="4775200" cy="471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842500" y="3035300"/>
            <a:ext cx="4711700" cy="471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8039100"/>
            <a:ext cx="8293100" cy="469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84400" y="3035300"/>
            <a:ext cx="8432800" cy="471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03300" y="711200"/>
            <a:ext cx="214630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프로젝트 소개 - Real Time Chess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860800"/>
            <a:ext cx="89789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2025.12 ~ 2026.03 (진행중)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UnrealEngine, Multiplay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시연 영상 :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설명 문서: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3035300"/>
            <a:ext cx="2857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관련 정보</a:t>
            </a:r>
          </a:p>
        </p:txBody>
      </p:sp>
      <p:pic>
        <p:nvPicPr>
          <p:cNvPr name="Picture 10" id="10">
            <a:hlinkClick r:id="rId8" tooltip=""/>
          </p:cNvPr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21000" y="4914900"/>
            <a:ext cx="495300" cy="355600"/>
          </a:xfrm>
          <a:prstGeom prst="rect">
            <a:avLst/>
          </a:prstGeom>
        </p:spPr>
      </p:pic>
      <p:pic>
        <p:nvPicPr>
          <p:cNvPr name="Picture 11" id="11">
            <a:hlinkClick r:id="rId10" tooltip=""/>
          </p:cNvPr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79800" y="5372100"/>
            <a:ext cx="419100" cy="419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90600" y="8178800"/>
            <a:ext cx="3987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주요 구현 내용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300" y="8890000"/>
            <a:ext cx="5905500" cy="146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체스 보드 인스턴싱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데이케이티드 서버 멀티플레이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Data Driven 보드, 기물 설계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711200"/>
            <a:ext cx="214630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그 외 프로젝트 경험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3543300"/>
            <a:ext cx="7023100" cy="527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86800" y="3543300"/>
            <a:ext cx="7010400" cy="527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70300" y="3543300"/>
            <a:ext cx="6972300" cy="527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90600" y="9791700"/>
            <a:ext cx="7124700" cy="289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2024.07 ~ 2024.09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DirectX9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인원 : 5인 팀 | 팀장 役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담당 개발 파트 : 메인 프레임워크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시연 영상 :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notion 페이지 :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8978900"/>
            <a:ext cx="717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Ship of Fools 모작</a:t>
            </a:r>
          </a:p>
        </p:txBody>
      </p:sp>
      <p:pic>
        <p:nvPicPr>
          <p:cNvPr name="Picture 9" id="9">
            <a:hlinkClick r:id="rId7" tooltip="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21000" y="11760200"/>
            <a:ext cx="495300" cy="355600"/>
          </a:xfrm>
          <a:prstGeom prst="rect">
            <a:avLst/>
          </a:prstGeom>
        </p:spPr>
      </p:pic>
      <p:pic>
        <p:nvPicPr>
          <p:cNvPr name="Picture 10" id="10">
            <a:hlinkClick r:id="rId9" tooltip=""/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19500" y="12268200"/>
            <a:ext cx="419100" cy="419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686800" y="9791700"/>
            <a:ext cx="71247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2024.05 ~ 2024.06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WindowsAPI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시연 영상 :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notion 페이지 :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6800" y="8978900"/>
            <a:ext cx="717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트릭스터 모작</a:t>
            </a:r>
          </a:p>
        </p:txBody>
      </p:sp>
      <p:pic>
        <p:nvPicPr>
          <p:cNvPr name="Picture 13" id="13">
            <a:hlinkClick r:id="rId10" tooltip=""/>
          </p:cNvPr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17200" y="10845800"/>
            <a:ext cx="495300" cy="355600"/>
          </a:xfrm>
          <a:prstGeom prst="rect">
            <a:avLst/>
          </a:prstGeom>
        </p:spPr>
      </p:pic>
      <p:pic>
        <p:nvPicPr>
          <p:cNvPr name="Picture 14" id="14">
            <a:hlinkClick r:id="rId11" tooltip=""/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163300" y="11315700"/>
            <a:ext cx="419100" cy="419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370300" y="9791700"/>
            <a:ext cx="71247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기간 : 2021.11 ~ 2021.12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 스택 : C++, MFC, ETW,WMI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소속 기업 : HB 테크놀러지 </a:t>
            </a:r>
          </a:p>
          <a:p>
            <a:pPr algn="l" lvl="1" marL="342900" indent="-342900">
              <a:lnSpc>
                <a:spcPct val="11702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notion 페이지 :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70300" y="8978900"/>
            <a:ext cx="717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7" b="false" i="false" u="none" strike="noStrike">
                <a:solidFill>
                  <a:srgbClr val="5D6DBE"/>
                </a:solidFill>
                <a:latin typeface="Pretendard Bold"/>
                <a:ea typeface="Pretendard Bold"/>
                <a:cs typeface="Pretendard Bold"/>
              </a:rPr>
              <a:t>Resource Monitor</a:t>
            </a:r>
          </a:p>
        </p:txBody>
      </p:sp>
      <p:pic>
        <p:nvPicPr>
          <p:cNvPr name="Picture 17" id="17">
            <a:hlinkClick r:id="rId12" tooltip=""/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846800" y="113157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03500" y="3695700"/>
            <a:ext cx="18719800" cy="3111500"/>
          </a:xfrm>
          <a:prstGeom prst="rect">
            <a:avLst/>
          </a:prstGeom>
        </p:spPr>
        <p:txBody>
          <a:bodyPr anchor="t" rtlCol="false" lIns="0" tIns="110067" rIns="0" bIns="0"/>
          <a:lstStyle/>
          <a:p>
            <a:pPr algn="ctr" lvl="0">
              <a:lnSpc>
                <a:spcPct val="99600"/>
              </a:lnSpc>
            </a:pPr>
            <a:r>
              <a:rPr lang="en-US" sz="8666" b="false" i="false" u="none" strike="noStrike" spc="-4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원인을 분석하고, 재현 가능한 방식으로 
개선하는 개발자가 되겠습니다.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94000" y="10033000"/>
            <a:ext cx="18440400" cy="2552700"/>
          </a:xfrm>
          <a:prstGeom prst="rect">
            <a:avLst/>
          </a:prstGeom>
        </p:spPr>
        <p:txBody>
          <a:bodyPr anchor="t" rtlCol="false" lIns="0" tIns="57569" rIns="0" bIns="0"/>
          <a:lstStyle/>
          <a:p>
            <a:pPr algn="ctr" lvl="0">
              <a:lnSpc>
                <a:spcPct val="99600"/>
              </a:lnSpc>
            </a:pPr>
            <a:r>
              <a:rPr lang="en-US" sz="4533" b="false" i="false" u="none" strike="noStrike" spc="-2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김지완
010-9252-5766</a:t>
            </a:r>
          </a:p>
          <a:p>
            <a:pPr algn="ctr" lvl="0">
              <a:lnSpc>
                <a:spcPct val="99600"/>
              </a:lnSpc>
            </a:pPr>
            <a:r>
              <a:rPr lang="en-US" sz="4533" b="false" i="false" u="none" strike="noStrike" spc="-2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KWJ5766@gmail.com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81300" y="2654300"/>
            <a:ext cx="18453100" cy="1016000"/>
          </a:xfrm>
          <a:prstGeom prst="rect">
            <a:avLst/>
          </a:prstGeom>
        </p:spPr>
        <p:txBody>
          <a:bodyPr anchor="t" rtlCol="false" lIns="0" tIns="62649" rIns="0" bIns="0"/>
          <a:lstStyle/>
          <a:p>
            <a:pPr algn="ctr" lvl="0">
              <a:lnSpc>
                <a:spcPct val="99600"/>
              </a:lnSpc>
            </a:pPr>
            <a:r>
              <a:rPr lang="en-US" sz="4933" b="false" i="false" u="none" strike="noStrike" spc="-200">
                <a:solidFill>
                  <a:srgbClr val="595959"/>
                </a:solidFill>
                <a:latin typeface="SpoqaHanSans-Regular"/>
                <a:ea typeface="SpoqaHanSans-Regular"/>
                <a:cs typeface="SpoqaHanSans-Regular"/>
              </a:rPr>
              <a:t>게임 클라이언트 프로그래머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100" y="10591800"/>
            <a:ext cx="6604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2D / 3D 모델 애니메이션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07500" y="10591800"/>
            <a:ext cx="6477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애니메이션 이벤트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4100" y="10566400"/>
            <a:ext cx="5753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333" b="false" i="false" u="none" strike="noStrike" spc="-100">
                <a:solidFill>
                  <a:srgbClr val="5D6DBE"/>
                </a:solidFill>
                <a:latin typeface="Pretendard Medium"/>
                <a:ea typeface="Pretendard Medium"/>
                <a:cs typeface="Pretendard Medium"/>
              </a:rPr>
              <a:t>애니메이션 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11480800"/>
            <a:ext cx="68072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3D 스켈레탈 애니메이션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2D 스프라이트 애니메이션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2D/3D 공통 부모 인터페이스로 관리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07500" y="11468100"/>
            <a:ext cx="57531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 타이밍에 게임 로직 호출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이벤트 기반 애니메이션 / 게임 로직 분리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4100" y="11442700"/>
            <a:ext cx="69850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속도, 반전 등 데이터 편집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이벤트 데이터 편집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애니메이션 이벤트 데이터 / 모델 데이터 분리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0"/>
            <a:ext cx="65659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체스 보드 인스턴싱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9900" y="406400"/>
            <a:ext cx="83312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RealTimeChess - 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6800" y="1790700"/>
            <a:ext cx="12166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많은 수의 큐브로 이루어진 체스 보드에 Instanced Static Mesh를 사용해 최적화했습니다.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4600" y="1473200"/>
            <a:ext cx="1054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4000" b="tru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30200" y="0"/>
            <a:ext cx="98171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Raycast &amp; 충돌 처리 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10800" y="4064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문제 해결 사례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1625600"/>
            <a:ext cx="7112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79500" y="1549400"/>
            <a:ext cx="2082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상황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4500" y="1549400"/>
            <a:ext cx="20574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해결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0" y="1562100"/>
            <a:ext cx="419100" cy="711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5600" y="1993900"/>
            <a:ext cx="85344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상호작용 / 전방 체크 등에 Raycast를 프레임 단위로 반복 사용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기존 방식은 Ray 경로와 무관하게 다수 오브젝트를 후보로 검사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맵 규모에 따라 Raycast 비용이 </a:t>
            </a:r>
            <a:r>
              <a:rPr lang="en-US" sz="2666" b="false" i="false" u="none" strike="noStrike" spc="-100">
                <a:solidFill>
                  <a:srgbClr val="5D6DBE"/>
                </a:solidFill>
                <a:latin typeface="Pretendard Regular"/>
                <a:ea typeface="Pretendard Regular"/>
                <a:cs typeface="Pretendard Regular"/>
              </a:rPr>
              <a:t>선형적으로 증가</a:t>
            </a: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하는 구조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17300" y="1993900"/>
            <a:ext cx="11163300" cy="257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셀 좌표가 정수단위이기 때문에  Ray가 지나는 셀을 예측할 수 있을 것이라고 판단.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</a:t>
            </a:r>
            <a:r>
              <a:rPr lang="en-US" sz="2666" b="false" i="false" u="none" strike="noStrike" spc="-100">
                <a:solidFill>
                  <a:srgbClr val="5D6DBE"/>
                </a:solidFill>
                <a:latin typeface="Pretendard Regular"/>
                <a:ea typeface="Pretendard Regular"/>
                <a:cs typeface="Pretendard Regular"/>
              </a:rPr>
              <a:t>Voxel Traversal(3D DDA)</a:t>
            </a: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알고리즘 적용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 Ray가 통과하는 셀에 대해서만 충돌 검사를 수행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 수평 Ray인 경우 XZ, 수직 판정 필요 시 XYZ Traversal 적용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17300" y="4495800"/>
            <a:ext cx="7099300" cy="415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4076700"/>
            <a:ext cx="6413500" cy="4559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68500" y="8597900"/>
            <a:ext cx="2895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22" b="false" i="false" u="none" strike="noStrike">
                <a:solidFill>
                  <a:srgbClr val="5D6DBE"/>
                </a:solidFill>
                <a:latin typeface="Pretendard Regular"/>
                <a:ea typeface="Pretendard Regular"/>
                <a:cs typeface="Pretendard Regular"/>
              </a:rPr>
              <a:t>많은 수의 맵 오브젝트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2400" y="8623300"/>
            <a:ext cx="18923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28" b="false" i="false" u="none" strike="noStrike">
                <a:solidFill>
                  <a:srgbClr val="5D6DBE"/>
                </a:solidFill>
                <a:latin typeface="Pretendard Regular"/>
                <a:ea typeface="Pretendard Regular"/>
                <a:cs typeface="Pretendard Regular"/>
              </a:rPr>
              <a:t>Voxel Traversal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8300" y="9436100"/>
            <a:ext cx="622300" cy="622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39800" y="9372600"/>
            <a:ext cx="20193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5600" y="10414000"/>
            <a:ext cx="9550400" cy="163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Raycast 검사 대상 : 전체 맵 오브젝트 -&gt; Ry가 통과하는 셀의 오브젝트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Raycast 비용 : 맵 크기 의존 -&gt; Ray 길이 의존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대규모 맵에서도 합리적인 Raycast 비용 확보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68300" y="0"/>
            <a:ext cx="7467600" cy="16383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맵 오브젝트 구조 변경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10800" y="4064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문제 해결 사례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1625600"/>
            <a:ext cx="7112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79500" y="1549400"/>
            <a:ext cx="2082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상황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4500" y="1549400"/>
            <a:ext cx="20574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해결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0" y="1562100"/>
            <a:ext cx="419100" cy="711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5600" y="1993900"/>
            <a:ext cx="8839200" cy="257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  대부분 맵 오브젝트가 큐브 형태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큐브형태 오브젝트와 큐브 형태가 아닌 오브젝트를 모두 동일 취급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큐브 형태의 충돌로 처리 가능한 것들과 그렇지 않은 것들 구분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4. 동일 큐브 메쉬로 인스턴싱 가능한 것들과 그렇지 않은 것들 구분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9436100"/>
            <a:ext cx="622300" cy="622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39800" y="9372600"/>
            <a:ext cx="20193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5600" y="10134600"/>
            <a:ext cx="3632200" cy="314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드로우 인스턴싱 가능성</a:t>
            </a:r>
          </a:p>
          <a:p>
            <a:pPr algn="l" lvl="2" marL="681482" indent="-342900">
              <a:lnSpc>
                <a:spcPct val="139440"/>
              </a:lnSpc>
              <a:buAutoNum type="alphaLcPeriod" startAt="1"/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필요 리소스 대폭 감소</a:t>
            </a:r>
          </a:p>
          <a:p>
            <a:pPr algn="l" lvl="2" marL="681482" indent="-342900">
              <a:lnSpc>
                <a:spcPct val="139440"/>
              </a:lnSpc>
              <a:buAutoNum type="alphaLcPeriod" startAt="1"/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드로우콜 대폭 감소</a:t>
            </a:r>
          </a:p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충돌 최적화 </a:t>
            </a:r>
          </a:p>
          <a:p>
            <a:pPr algn="l" lvl="2" marL="681482" indent="-342900">
              <a:lnSpc>
                <a:spcPct val="139440"/>
              </a:lnSpc>
              <a:buAutoNum type="alphaLcPeriod" startAt="1"/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Mesh -&gt; AABB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7300" y="1993900"/>
            <a:ext cx="3530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큐브 형태의 오브젝트만 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90600" y="1092200"/>
            <a:ext cx="21475700" cy="16383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Raycast &amp; 충돌 처리 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 문제 해결 사례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6500" y="4229100"/>
            <a:ext cx="736600" cy="736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4241800"/>
            <a:ext cx="20193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501900"/>
            <a:ext cx="221361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Raycast시 예상되는 문제에 대응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711200"/>
            <a:ext cx="4800600" cy="16383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4000" y="31750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200" y="23114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700" y="2260600"/>
            <a:ext cx="73914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내 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4000" y="59436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5200" y="5067300"/>
            <a:ext cx="469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700" y="5016500"/>
            <a:ext cx="73914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주요 구현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78100" y="31750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06600" y="23114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78100" y="2260600"/>
            <a:ext cx="7416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프로젝트 소개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78100" y="59436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06600" y="50673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78100" y="5016500"/>
            <a:ext cx="74549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주요 문제 해결 사례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1066800"/>
            <a:ext cx="21463000" cy="1371600"/>
          </a:xfrm>
          <a:prstGeom prst="rect">
            <a:avLst/>
          </a:prstGeom>
        </p:spPr>
        <p:txBody>
          <a:bodyPr anchor="t" rtlCol="false" lIns="0" tIns="101605" rIns="0" bIns="0"/>
          <a:lstStyle/>
          <a:p>
            <a:pPr algn="l" lvl="0">
              <a:lnSpc>
                <a:spcPct val="96279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Raycast 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문제 해결 사례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0" y="5372100"/>
            <a:ext cx="24003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해결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77200" y="5346700"/>
            <a:ext cx="520700" cy="87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30400" y="8661400"/>
            <a:ext cx="876300" cy="87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794000" y="8674100"/>
            <a:ext cx="24003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결과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3937000"/>
            <a:ext cx="838200" cy="67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66900" y="3848100"/>
            <a:ext cx="24003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상황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2514600"/>
            <a:ext cx="221361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유저가 마음대로 자신의 집을 꾸밀 수 있는 </a:t>
            </a:r>
            <a:r>
              <a:rPr lang="en-US" sz="3333" b="true" i="false" u="none" strike="noStrike">
                <a:solidFill>
                  <a:srgbClr val="5D6DBE"/>
                </a:solidFill>
                <a:latin typeface="Pretendard Regular"/>
                <a:ea typeface="Pretendard Regular"/>
                <a:cs typeface="Pretendard Regular"/>
              </a:rPr>
              <a:t>UGC </a:t>
            </a:r>
            <a:r>
              <a:rPr lang="en-US" sz="33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제작 컨텐츠</a:t>
            </a:r>
            <a:r>
              <a:rPr lang="en-US" sz="33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구현했습니다.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1066800"/>
            <a:ext cx="21463000" cy="1371600"/>
          </a:xfrm>
          <a:prstGeom prst="rect">
            <a:avLst/>
          </a:prstGeom>
        </p:spPr>
        <p:txBody>
          <a:bodyPr anchor="t" rtlCol="false" lIns="0" tIns="101605" rIns="0" bIns="0"/>
          <a:lstStyle/>
          <a:p>
            <a:pPr algn="l" lvl="0">
              <a:lnSpc>
                <a:spcPct val="96279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Raycast 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문제 해결 사례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45600" y="5689600"/>
            <a:ext cx="2324100" cy="2336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814300" y="5689600"/>
            <a:ext cx="2324100" cy="23368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27300" y="2476500"/>
            <a:ext cx="195326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2839"/>
              </a:lnSpc>
            </a:pPr>
            <a:r>
              <a:rPr lang="en-US" sz="5300" b="false" i="false" u="none" strike="noStrike" spc="-200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페이지 제목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7300" y="5981700"/>
            <a:ext cx="6565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9479"/>
              </a:lnSpc>
            </a:pPr>
            <a:r>
              <a:rPr lang="en-US" sz="32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첫 번째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90800" y="5981700"/>
            <a:ext cx="6578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9479"/>
              </a:lnSpc>
            </a:pPr>
            <a:r>
              <a:rPr lang="en-US" sz="32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두 번째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7300" y="6858000"/>
            <a:ext cx="6515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944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메시지는 짧고 간결할수록 효과적으로 전달돼요.</a:t>
            </a:r>
          </a:p>
          <a:p>
            <a:pPr algn="l" lvl="0">
              <a:lnSpc>
                <a:spcPct val="13944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2-3줄로 작성하면 더 쉽게 읽을 수 있어요.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28900" y="6858000"/>
            <a:ext cx="65278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3944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메시지는 짧고 간결할수록 효과적으로 전달돼요.</a:t>
            </a:r>
          </a:p>
          <a:p>
            <a:pPr algn="r" lvl="0">
              <a:lnSpc>
                <a:spcPct val="139440"/>
              </a:lnSpc>
            </a:pPr>
            <a:r>
              <a:rPr lang="en-US" sz="21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2-3줄로 작성하면 더 쉽게 읽을 수 있어요.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 rot="0">
            <a:off x="7988300" y="7708900"/>
            <a:ext cx="13843000" cy="76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 rot="0">
            <a:off x="2540000" y="11049000"/>
            <a:ext cx="138430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40000" y="4851400"/>
            <a:ext cx="5092700" cy="2933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38600" y="8178800"/>
            <a:ext cx="5092700" cy="2933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8001000" y="5422900"/>
            <a:ext cx="635000" cy="647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0">
            <a:off x="15735300" y="8763000"/>
            <a:ext cx="635000" cy="64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374900" y="2489200"/>
            <a:ext cx="19634200" cy="1727200"/>
          </a:xfrm>
          <a:prstGeom prst="rect">
            <a:avLst/>
          </a:prstGeom>
        </p:spPr>
        <p:txBody>
          <a:bodyPr anchor="t" rtlCol="false" lIns="0" tIns="108373" rIns="0" bIns="0"/>
          <a:lstStyle/>
          <a:p>
            <a:pPr algn="ctr" lvl="0">
              <a:lnSpc>
                <a:spcPct val="99600"/>
              </a:lnSpc>
            </a:pPr>
            <a:r>
              <a:rPr lang="en-US" sz="8533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이곳에 제목을 입력해주세요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9200" y="5334000"/>
            <a:ext cx="13144500" cy="825500"/>
          </a:xfrm>
          <a:prstGeom prst="rect">
            <a:avLst/>
          </a:prstGeom>
        </p:spPr>
        <p:txBody>
          <a:bodyPr anchor="t" rtlCol="false" lIns="0" tIns="49107" rIns="0" bIns="0"/>
          <a:lstStyle/>
          <a:p>
            <a:pPr algn="l" lvl="0">
              <a:lnSpc>
                <a:spcPct val="996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이곳에 내용을 입력해주세요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0300" y="8674100"/>
            <a:ext cx="13144500" cy="825500"/>
          </a:xfrm>
          <a:prstGeom prst="rect">
            <a:avLst/>
          </a:prstGeom>
        </p:spPr>
        <p:txBody>
          <a:bodyPr anchor="t" rtlCol="false" lIns="0" tIns="49107" rIns="0" bIns="0"/>
          <a:lstStyle/>
          <a:p>
            <a:pPr algn="r" lvl="0">
              <a:lnSpc>
                <a:spcPct val="99600"/>
              </a:lnSpc>
            </a:pPr>
            <a:r>
              <a:rPr lang="en-US" sz="38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이곳에 내용을 입력해주세요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6400" y="5486400"/>
            <a:ext cx="5842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48000" y="8826500"/>
            <a:ext cx="622300" cy="5080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9200" y="6286500"/>
            <a:ext cx="131064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더블 클릭해 내용을 자유롭게 입력해주세요. 주제와 관련된 세부 내용을 입력해주세요.</a:t>
            </a:r>
          </a:p>
          <a:p>
            <a:pPr algn="l" lvl="0">
              <a:lnSpc>
                <a:spcPct val="1244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문장을 입력해주세요.페이지의 레이아웃을 용도에 맞게 다양하게 활용해주세요.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51100" y="9601200"/>
            <a:ext cx="131064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더블 클릭해 내용을 자유롭게 입력해주세요. 주제와 관련된 세부 내용을 입력해주세요.</a:t>
            </a:r>
          </a:p>
          <a:p>
            <a:pPr algn="r" lvl="0">
              <a:lnSpc>
                <a:spcPct val="1244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문장을 입력해주세요.페이지의 레이아웃을 용도에 맞게 다양하게 활용해주세요.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1092200"/>
            <a:ext cx="21463000" cy="16510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충돌처리 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문제 해결 사례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1092200"/>
            <a:ext cx="21463000" cy="1333500"/>
          </a:xfrm>
          <a:prstGeom prst="rect">
            <a:avLst/>
          </a:prstGeom>
        </p:spPr>
        <p:txBody>
          <a:bodyPr anchor="t" rtlCol="false" lIns="0" tIns="122773" rIns="0" bIns="0"/>
          <a:lstStyle/>
          <a:p>
            <a:pPr algn="l" lvl="0">
              <a:lnSpc>
                <a:spcPct val="9213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오브젝트 컬링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문제 해결 사례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1092200"/>
            <a:ext cx="21463000" cy="1333500"/>
          </a:xfrm>
          <a:prstGeom prst="rect">
            <a:avLst/>
          </a:prstGeom>
        </p:spPr>
        <p:txBody>
          <a:bodyPr anchor="t" rtlCol="false" lIns="0" tIns="122773" rIns="0" bIns="0"/>
          <a:lstStyle/>
          <a:p>
            <a:pPr algn="l" lvl="0">
              <a:lnSpc>
                <a:spcPct val="9213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오브젝트 컬링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317500"/>
            <a:ext cx="8737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74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메이플스토리2 모작 - 문제 해결 사례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46200" y="1511300"/>
            <a:ext cx="15379700" cy="2413000"/>
          </a:xfrm>
          <a:prstGeom prst="rect">
            <a:avLst/>
          </a:prstGeom>
        </p:spPr>
        <p:txBody>
          <a:bodyPr anchor="t" rtlCol="false" lIns="0" tIns="152400" rIns="0" bIns="0"/>
          <a:lstStyle/>
          <a:p>
            <a:pPr algn="l" lvl="0">
              <a:lnSpc>
                <a:spcPct val="99600"/>
              </a:lnSpc>
            </a:pPr>
            <a:r>
              <a:rPr lang="en-US" sz="12000" b="false" i="false" u="none" strike="noStrike" spc="-6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간단한 기업 보고서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0500" y="3911600"/>
            <a:ext cx="18440400" cy="965200"/>
          </a:xfrm>
          <a:prstGeom prst="rect">
            <a:avLst/>
          </a:prstGeom>
        </p:spPr>
        <p:txBody>
          <a:bodyPr anchor="t" rtlCol="false" lIns="0" tIns="57569" rIns="0" bIns="0"/>
          <a:lstStyle/>
          <a:p>
            <a:pPr algn="l" lvl="0">
              <a:lnSpc>
                <a:spcPct val="99600"/>
              </a:lnSpc>
            </a:pPr>
            <a:r>
              <a:rPr lang="en-US" sz="45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위에는 제목을, 여기엔 설명을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6200" y="11861800"/>
            <a:ext cx="66294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066" b="false" i="false" u="none" strike="noStrike" spc="-1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미리컴퍼니 사업부 김미리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0900" y="11861800"/>
            <a:ext cx="48895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8689"/>
              </a:lnSpc>
            </a:pPr>
            <a:r>
              <a:rPr lang="en-US" sz="3066" b="false" i="false" u="none" strike="noStrike" spc="-1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2099.08.19</a:t>
            </a:r>
            <a:br>
              <a:rPr lang="en-US" sz="3066" b="false" i="false" u="none" strike="noStrike" spc="-1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</a:b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711200"/>
            <a:ext cx="4800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페이지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04000" y="31750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200" y="23114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04000" y="23114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4000" y="59436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5200" y="5067300"/>
            <a:ext cx="469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0" y="50673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0" y="86995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45200" y="78232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0" y="78232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78100" y="31750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06600" y="23114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78100" y="23114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78100" y="59436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06600" y="50673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78100" y="50673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78100" y="86995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06600" y="78232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78100" y="78232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4000" y="114554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45200" y="105791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04000" y="105791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78100" y="11455400"/>
            <a:ext cx="73533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소개할 내용을 입력해 보세요.</a:t>
            </a:r>
          </a:p>
          <a:p>
            <a:pPr algn="l" lvl="0">
              <a:lnSpc>
                <a:spcPct val="136119"/>
              </a:lnSpc>
            </a:pPr>
            <a:r>
              <a:rPr lang="en-US" sz="271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포함되는 내용을 나열해 보세요.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06600" y="10579100"/>
            <a:ext cx="60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78100" y="10579100"/>
            <a:ext cx="7391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379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목차 쓰는 곳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결론 페이지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29000" y="4889500"/>
            <a:ext cx="175514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보고할 땐 결론을 먼저 제시해 보세요. 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배경, 현황, 수치 등의 구체적인 보고보다 앞 부분에 배치하는 게 좋습니다.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7100" y="2984500"/>
            <a:ext cx="155829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5333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 보고서의 결론을 먼저 제시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29000" y="7213600"/>
            <a:ext cx="175514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결론은 전체 내용을 요약하고, 보고에서 핵심이 되는 포인트를 강조합니다.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명확하고, 간결한 문장이 중요해요.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9000" y="9537700"/>
            <a:ext cx="175514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결과를 보여주는 것 외에도, 견해나 방안을 제시하는 것 또한 잊지 마세요.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7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결론에서 쓸 가장 중요한 내용입니다.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4500" y="3251200"/>
            <a:ext cx="10083800" cy="8102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배경 페이지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5900" y="2679700"/>
            <a:ext cx="7912100" cy="257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배경 요인을 입력하는 페이지입니다.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현상이 일어나게 된 원인을 입력하세요.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왼쪽의 사진이나 그래프를 추가로 설명해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배경의 내용을 완성해보세요.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87400" y="1651000"/>
            <a:ext cx="7493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5900" y="1651000"/>
            <a:ext cx="7391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첫번째 배경 요인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85900" y="6972300"/>
            <a:ext cx="7327900" cy="257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이곳엔 두번째 배경 내용을 입력해요.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현상의 맥락과 필요성을 설명해 보세요.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연구 목적이나 범위를 나타내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배경의 당위를 나타내 보세요.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87400" y="5943600"/>
            <a:ext cx="7493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85900" y="5943600"/>
            <a:ext cx="7391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두번째 배경 요인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96000" y="4165600"/>
            <a:ext cx="16383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3467" b="false" i="false" u="none" strike="noStrike" spc="-1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10 %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27500" y="6997700"/>
            <a:ext cx="15240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3467" b="false" i="false" u="none" strike="noStrike" spc="-100">
                <a:solidFill>
                  <a:srgbClr val="5D6DBE"/>
                </a:solidFill>
                <a:latin typeface="SpoqaHanSans-Regular"/>
                <a:ea typeface="SpoqaHanSans-Regular"/>
                <a:cs typeface="SpoqaHanSans-Regular"/>
              </a:rPr>
              <a:t>30 %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2000" y="8267700"/>
            <a:ext cx="16383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3467" b="false" i="false" u="none" strike="noStrike" spc="-100">
                <a:solidFill>
                  <a:srgbClr val="EEEFF6"/>
                </a:solidFill>
                <a:latin typeface="SpoqaHanSans-Regular"/>
                <a:ea typeface="SpoqaHanSans-Regular"/>
                <a:cs typeface="SpoqaHanSans-Regular"/>
              </a:rPr>
              <a:t>60 %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00200" y="11277600"/>
            <a:ext cx="91821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첫번째, 두번째 만큼 중요하지 않아도 영향을 끼친 
요인에 대해 설명이 필요하다면 여기에 쓰세요. </a:t>
            </a:r>
            <a:b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</a:br>
          </a:p>
        </p:txBody>
      </p:sp>
      <p:sp>
        <p:nvSpPr>
          <p:cNvPr name="TextBox 15" id="15"/>
          <p:cNvSpPr txBox="true"/>
          <p:nvPr/>
        </p:nvSpPr>
        <p:spPr>
          <a:xfrm rot="0">
            <a:off x="13601700" y="10248900"/>
            <a:ext cx="7493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9FA9D8"/>
                </a:solidFill>
                <a:latin typeface="SpoqaHanSans-Bold"/>
                <a:ea typeface="SpoqaHanSans-Bold"/>
                <a:cs typeface="SpoqaHanSans-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12900" y="10248900"/>
            <a:ext cx="7391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세번째 배경 요인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25600" y="3149600"/>
            <a:ext cx="9855200" cy="511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53900" y="3149600"/>
            <a:ext cx="9855200" cy="511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현황 페이지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56500" y="9144000"/>
            <a:ext cx="151130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현황에서 주목해야 할 중요한 특징이나 문제점을 간단히 설명합니다.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해당 페이지의 내용만 보고도 현황을 간단히 파악할 수 있도록요.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8300" y="8737600"/>
            <a:ext cx="56007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이곳에선</a:t>
            </a:r>
          </a:p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현황과 사진을 설명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6500" y="11036300"/>
            <a:ext cx="151130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이미지를 넣는 곳에는, 현황을 시각적으로 단번에 소개할 수 있는 이미지를 넣어보세요.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글보다 사진 한장이 더 빠르게 이해를 도울 수 있어요.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33500" y="3352800"/>
            <a:ext cx="8267700" cy="8864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분석 페이지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4100" y="4356100"/>
            <a:ext cx="6477000" cy="585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이곳에는 분석한 내용을 </a:t>
            </a:r>
          </a:p>
          <a:p>
            <a:pPr algn="l" lvl="0">
              <a:lnSpc>
                <a:spcPct val="136119"/>
              </a:lnSpc>
            </a:pPr>
            <a: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요약해 입력해 주세요.</a:t>
            </a:r>
            <a:b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</a:br>
            <a:b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</a:br>
          </a:p>
          <a:p>
            <a:pPr algn="l" lvl="0">
              <a:lnSpc>
                <a:spcPct val="136119"/>
              </a:lnSpc>
            </a:pPr>
            <a: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분석한 결과에 관한 </a:t>
            </a:r>
          </a:p>
          <a:p>
            <a:pPr algn="l" lvl="0">
              <a:lnSpc>
                <a:spcPct val="136119"/>
              </a:lnSpc>
            </a:pPr>
            <a: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담당자의 의견도 </a:t>
            </a:r>
          </a:p>
          <a:p>
            <a:pPr algn="l" lvl="0">
              <a:lnSpc>
                <a:spcPct val="136119"/>
              </a:lnSpc>
            </a:pPr>
            <a:r>
              <a:rPr lang="en-US" sz="4667" b="false" i="false" u="none" strike="noStrike" spc="-2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함께 남겨주세요.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71200" y="5918200"/>
            <a:ext cx="121920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분석에 사용된 데이터의 종류, 출처, 수집 방법 등을 설명합니다. 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데이터의 신뢰성과 정확성을 강조하는 부분입니다.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71200" y="4152900"/>
            <a:ext cx="122428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이곳에는 분석한 내용을 조금 더 자세히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71200" y="7988300"/>
            <a:ext cx="121920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실제로 어떻게 분석을 수행했는지, 어떤 단계들을 거쳤는지를 설명합니다. 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데이터 전처리, 모델 학습, 평가 등의 단계를 포함합니다.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71200" y="10071100"/>
            <a:ext cx="121920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분석 결과와 그 해석을 설명합니다. 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어떤 지표를 사용하여 어떻게 결과를 해석했는지를 명시합니다.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7300" y="2540000"/>
            <a:ext cx="9423400" cy="990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33200" y="6286500"/>
            <a:ext cx="104394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7000"/>
          </a:blip>
          <a:stretch>
            <a:fillRect/>
          </a:stretch>
        </p:blipFill>
        <p:spPr>
          <a:xfrm rot="0">
            <a:off x="11633200" y="7086600"/>
            <a:ext cx="2095500" cy="209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72900" y="7226300"/>
            <a:ext cx="1803400" cy="180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000"/>
          </a:blip>
          <a:stretch>
            <a:fillRect/>
          </a:stretch>
        </p:blipFill>
        <p:spPr>
          <a:xfrm rot="0">
            <a:off x="11633200" y="9855200"/>
            <a:ext cx="2095500" cy="209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72900" y="10007600"/>
            <a:ext cx="1803400" cy="1803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633200" y="3479800"/>
            <a:ext cx="10680700" cy="2324100"/>
          </a:xfrm>
          <a:prstGeom prst="rect">
            <a:avLst/>
          </a:prstGeom>
        </p:spPr>
        <p:txBody>
          <a:bodyPr anchor="t" rtlCol="false" lIns="0" tIns="39794" rIns="0" bIns="0"/>
          <a:lstStyle/>
          <a:p>
            <a:pPr algn="l" lvl="0">
              <a:lnSpc>
                <a:spcPct val="107899"/>
              </a:lnSpc>
            </a:pPr>
            <a:r>
              <a:rPr lang="en-US" sz="62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더 자세한 정보나 추가자료는</a:t>
            </a:r>
          </a:p>
          <a:p>
            <a:pPr algn="l" lvl="0">
              <a:lnSpc>
                <a:spcPct val="107899"/>
              </a:lnSpc>
            </a:pPr>
            <a:r>
              <a:rPr lang="en-US" sz="6266" b="false" i="false" u="none" strike="noStrike">
                <a:solidFill>
                  <a:srgbClr val="000000"/>
                </a:solidFill>
                <a:latin typeface="SpoqaHanSans-Bold"/>
                <a:ea typeface="SpoqaHanSans-Bold"/>
                <a:cs typeface="SpoqaHanSans-Bold"/>
              </a:rPr>
              <a:t>이쪽에서 보실 수 있습니다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47800" y="7188200"/>
            <a:ext cx="80645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참고자료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47800" y="9956800"/>
            <a:ext cx="80645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참고자료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47800" y="8115300"/>
            <a:ext cx="80264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MiriCanvas 에디터로 QR코드를 만들 수 있습니다.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첨부하고 싶은 자료의 URL 링크를 붙여주세요.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47800" y="10883900"/>
            <a:ext cx="80264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MiriCanvas 에디터로 QR코드를 만들 수 있습니다.</a:t>
            </a:r>
          </a:p>
          <a:p>
            <a:pPr algn="l" lvl="0">
              <a:lnSpc>
                <a:spcPct val="1411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첨부하고 싶은 자료의 URL 링크를 붙여주세요.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97000" y="4432300"/>
          <a:ext cx="20612100" cy="8013700"/>
        </p:xfrm>
        <a:graphic>
          <a:graphicData uri="http://schemas.openxmlformats.org/drawingml/2006/table">
            <a:tbl>
              <a:tblPr/>
              <a:tblGrid>
                <a:gridCol w="2612202"/>
                <a:gridCol w="10759048"/>
                <a:gridCol w="7194283"/>
              </a:tblGrid>
              <a:tr h="138702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항목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항목의 세부 내용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비고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</a:tr>
              <a:tr h="238441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항목 1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528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해당 항목이 어떤 내용을 전달하는지 설명해요.</a:t>
                      </a:r>
                      <a:endParaRPr lang="en-US" sz="1100"/>
                    </a:p>
                    <a:p>
                      <a:pPr algn="l" lvl="0">
                        <a:lnSpc>
                          <a:spcPct val="13528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또한, 이 항목에서 가장 중요한 부분을 설명해요.</a:t>
                      </a:r>
                    </a:p>
                    <a:p>
                      <a:pPr algn="l" lvl="0">
                        <a:lnSpc>
                          <a:spcPct val="13528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수치, 데이터를 함께 입력해 내용을 보완해요.</a:t>
                      </a:r>
                    </a:p>
                  </a:txBody>
                  <a:tcPr anchor="ctr" marL="25400" marT="0" marR="25400" marB="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528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이곳엔 해당 항목의 특이사항 </a:t>
                      </a:r>
                      <a:endParaRPr lang="en-US" sz="1100"/>
                    </a:p>
                    <a:p>
                      <a:pPr algn="l" lvl="0">
                        <a:lnSpc>
                          <a:spcPct val="13528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혹은 참고사항을 언급 해요.</a:t>
                      </a:r>
                    </a:p>
                  </a:txBody>
                  <a:tcPr anchor="ctr" marL="25400" marT="0" marR="25400" marB="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7613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항목 2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528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해당 항목이 어떤 내용을 전달하는지 설명해요.</a:t>
                      </a:r>
                      <a:endParaRPr lang="en-US" sz="1100"/>
                    </a:p>
                    <a:p>
                      <a:pPr algn="l" lvl="0">
                        <a:lnSpc>
                          <a:spcPct val="13528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또한, 이 항목에서 가장 중요한 부분을 설명해요.</a:t>
                      </a:r>
                    </a:p>
                  </a:txBody>
                  <a:tcPr anchor="ctr" marL="25400" marT="0" marR="25400" marB="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772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2130"/>
                        </a:lnSpc>
                        <a:defRPr/>
                      </a:pPr>
                      <a:r>
                        <a:rPr lang="en-US" sz="3067" b="false" i="false" u="none" strike="noStrike">
                          <a:solidFill>
                            <a:srgbClr val="5D6DBE"/>
                          </a:solidFill>
                          <a:latin typeface="SpoqaHanSans-Bold"/>
                          <a:ea typeface="SpoqaHanSans-Bold"/>
                          <a:cs typeface="SpoqaHanSans-Bold"/>
                        </a:rPr>
                        <a:t>항목 3</a:t>
                      </a:r>
                      <a:endParaRPr lang="en-US" sz="1100"/>
                    </a:p>
                  </a:txBody>
                  <a:tcPr anchor="ctr" marL="25400" marT="81878" marR="25400" marB="81878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3528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해당 항목이 어떤 내용을 전달하는지 설명해요.</a:t>
                      </a:r>
                      <a:endParaRPr lang="en-US" sz="1100"/>
                    </a:p>
                    <a:p>
                      <a:pPr algn="l" lvl="0">
                        <a:lnSpc>
                          <a:spcPct val="13528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000000"/>
                          </a:solidFill>
                          <a:latin typeface="SpoqaHanSans-Regular"/>
                          <a:ea typeface="SpoqaHanSans-Regular"/>
                          <a:cs typeface="SpoqaHanSans-Regular"/>
                        </a:rPr>
                        <a:t>     - 또한, 이 항목에서 가장 중요한 부분을 설명해요.</a:t>
                      </a:r>
                    </a:p>
                  </a:txBody>
                  <a:tcPr anchor="ctr" marL="25400" marT="0" marR="25400" marB="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5D6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표 페이지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700" y="2984500"/>
            <a:ext cx="160909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이곳에는 표의 내용을 요약하는 문장 입력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97000" y="4533900"/>
            <a:ext cx="9423400" cy="7950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비교 페이지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59200" y="2921000"/>
            <a:ext cx="161036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이곳에는 비교한 내용을 요약해  입력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2200" y="6908800"/>
            <a:ext cx="74930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대상들 간의 주요 차이나 유사점을 요약하는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페이지예요. 비교 기준이 방법을 제시하면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명확한 근거가 완성돼요.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3300" y="5270500"/>
            <a:ext cx="75692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비교할 내용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62200" y="9652000"/>
            <a:ext cx="78994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어떤 대상이 어떤 측면에서 우세하거나 어떤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대상이 특정한 특징을 갖는지 등을 설명합니다.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추후 미치게 될 영향까지 설명해도 좋아요.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74600" y="4533900"/>
            <a:ext cx="9423400" cy="7950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1772900" y="8039100"/>
            <a:ext cx="762000" cy="457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087100" y="8039100"/>
            <a:ext cx="762000" cy="457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639800" y="6908800"/>
            <a:ext cx="74930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대상들 간의 주요 차이나 유사점을 요약하는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페이지예요. 비교 기준이 방법을 제시하면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명확한 근거가 완성돼요.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50900" y="5270500"/>
            <a:ext cx="75565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비교할 내용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27100" y="9652000"/>
            <a:ext cx="78994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어떤 대상이 어떤 측면에서 우세하거나 어떤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대상이 특정한 특징을 갖는지 등을 설명합니다. </a:t>
            </a:r>
          </a:p>
          <a:p>
            <a:pPr algn="l" lvl="0">
              <a:lnSpc>
                <a:spcPct val="136119"/>
              </a:lnSpc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추후 미치게 될 영향까지 설명해도 좋아요.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3300" y="711200"/>
            <a:ext cx="18516600" cy="1333500"/>
          </a:xfrm>
          <a:prstGeom prst="rect">
            <a:avLst/>
          </a:prstGeom>
        </p:spPr>
        <p:txBody>
          <a:bodyPr anchor="t" rtlCol="false" lIns="0" tIns="84671" rIns="0" bIns="0"/>
          <a:lstStyle/>
          <a:p>
            <a:pPr algn="l" lvl="0">
              <a:lnSpc>
                <a:spcPct val="99600"/>
              </a:lnSpc>
            </a:pPr>
            <a:r>
              <a:rPr lang="en-US" sz="6667" b="false" i="false" u="none" strike="noStrike" spc="-3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인과 페이지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4300" y="3149600"/>
            <a:ext cx="160909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5D6DBE"/>
                </a:solidFill>
                <a:latin typeface="SpoqaHanSans-Bold"/>
                <a:ea typeface="SpoqaHanSans-Bold"/>
                <a:cs typeface="SpoqaHanSans-Bold"/>
              </a:rPr>
              <a:t>이곳에는 원인과 결과를 요약해 입력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97000" y="4699000"/>
            <a:ext cx="20713700" cy="382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09700" y="4699000"/>
            <a:ext cx="3746500" cy="382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057900" y="5346700"/>
            <a:ext cx="155448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먼저 현상이나 문제점을 명확하게 설명합니다. 어떤 현상이 발생했는지를 상세히 기술합니다.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4400" y="6146800"/>
            <a:ext cx="2184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FFFFFF"/>
                </a:solidFill>
                <a:latin typeface="SpoqaHanSans-Bold"/>
                <a:ea typeface="SpoqaHanSans-Bold"/>
                <a:cs typeface="SpoqaHanSans-Bold"/>
              </a:rPr>
              <a:t>원인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83300" y="6578600"/>
            <a:ext cx="155194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현상이 발생한 원인에 대한 여러 가지 가설을 제시해 보세요.</a:t>
            </a:r>
            <a:r>
              <a:rPr lang="en-US" sz="3067" b="false" i="false" u="none" strike="noStrike" spc="-1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/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가능한 원인을 명시하고 각각에 대한 근거 또한 제시해요.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9677400"/>
            <a:ext cx="20713700" cy="279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9700" y="9677400"/>
            <a:ext cx="3746500" cy="279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82900" y="8851900"/>
            <a:ext cx="762000" cy="45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901400" y="-12700"/>
            <a:ext cx="495300" cy="13741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083300" y="10426700"/>
            <a:ext cx="155194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해당 원인을 해결하거나 예방하기 위한 향후 조치나 대응 방안을 제안할 수 있습니다. </a:t>
            </a:r>
          </a:p>
          <a:p>
            <a:pPr algn="l" lvl="1" marL="342900" indent="-342900">
              <a:lnSpc>
                <a:spcPct val="13611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7" b="false" i="false" u="none" strike="noStrike" spc="-200">
                <a:solidFill>
                  <a:srgbClr val="000000"/>
                </a:solidFill>
                <a:latin typeface="SpoqaHanSans-Regular"/>
                <a:ea typeface="SpoqaHanSans-Regular"/>
                <a:cs typeface="SpoqaHanSans-Regular"/>
              </a:rPr>
              <a:t>결과의 관리나 개선을 위한 제안을 포함해도 좋아요.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4400" y="10579100"/>
            <a:ext cx="21844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8689"/>
              </a:lnSpc>
            </a:pPr>
            <a:r>
              <a:rPr lang="en-US" sz="4667" b="false" i="false" u="none" strike="noStrike" spc="-100">
                <a:solidFill>
                  <a:srgbClr val="FFFFFF"/>
                </a:solidFill>
                <a:latin typeface="SpoqaHanSans-Bold"/>
                <a:ea typeface="SpoqaHanSans-Bold"/>
                <a:cs typeface="SpoqaHanSans-Bold"/>
              </a:rPr>
              <a:t>결과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